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4630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Sales Analytics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4688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does the business make money, and where does it lose it?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1148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B7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Capstone: Week 6  |  Python, Power BI, GitHub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and the data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188720"/>
            <a:ext cx="4846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grew every year, but is every sale a good sale?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Superstore retail orders, 2015 to 2018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9,994 order lines, 793 customers, 49 states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Cleaned: 806 stray rows removed, 11 postal codes fixed, dates converted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760720" y="1188720"/>
            <a:ext cx="2834640" cy="960120"/>
          </a:xfrm>
          <a:prstGeom prst="rect">
            <a:avLst/>
          </a:prstGeom>
          <a:solidFill>
            <a:srgbClr val="F7F8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760720" y="1216152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$2.30M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5760720" y="176479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760720" y="2331720"/>
            <a:ext cx="2834640" cy="960120"/>
          </a:xfrm>
          <a:prstGeom prst="rect">
            <a:avLst/>
          </a:prstGeom>
          <a:solidFill>
            <a:srgbClr val="F7F8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760720" y="2359152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$286K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5760720" y="290779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760720" y="3474720"/>
            <a:ext cx="2834640" cy="960120"/>
          </a:xfrm>
          <a:prstGeom prst="rect">
            <a:avLst/>
          </a:prstGeom>
          <a:solidFill>
            <a:srgbClr val="F7F8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760720" y="3502152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12.5%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5760720" y="405079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is real</a:t>
            </a:r>
            <a:endParaRPr lang="en-US" sz="2600" dirty="0"/>
          </a:p>
        </p:txBody>
      </p:sp>
      <p:pic>
        <p:nvPicPr>
          <p:cNvPr id="4" name="Image 0" descr="../charts/01_monthly_tre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143000"/>
            <a:ext cx="5394960" cy="21945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172200" y="1188720"/>
            <a:ext cx="2468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up 51%, 2015 to 2018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nearly doubled: $49K to $93K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Peaks every Sep, Nov and Dec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Furniture sells, but barely earns</a:t>
            </a:r>
            <a:endParaRPr lang="en-US" sz="2600" dirty="0"/>
          </a:p>
        </p:txBody>
      </p:sp>
      <p:pic>
        <p:nvPicPr>
          <p:cNvPr id="4" name="Image 0" descr="../charts/02_catego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143000"/>
            <a:ext cx="4480560" cy="2514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257800" y="1188720"/>
            <a:ext cx="33832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Furniture: 32% of sales, 2.5% margin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and Office Supplies: about 17%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sub-categories lose money</a:t>
            </a:r>
            <a:endParaRPr lang="en-US" sz="2600" dirty="0"/>
          </a:p>
        </p:txBody>
      </p:sp>
      <p:pic>
        <p:nvPicPr>
          <p:cNvPr id="4" name="Image 0" descr="../charts/03_subcategory_prof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143000"/>
            <a:ext cx="3931920" cy="33832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709160" y="1188720"/>
            <a:ext cx="39319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Tables: -$17.7K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Bookcases: -$3.5K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Supplies: -$1.2K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Copiers lead profit at $55.6K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Discounts are the profit leak</a:t>
            </a:r>
            <a:endParaRPr lang="en-US" sz="2600" dirty="0"/>
          </a:p>
        </p:txBody>
      </p:sp>
      <p:pic>
        <p:nvPicPr>
          <p:cNvPr id="4" name="Image 0" descr="../charts/05_discount_prof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143000"/>
            <a:ext cx="4480560" cy="28346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257800" y="1188720"/>
            <a:ext cx="33832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40%+ discounts: -$99.6K across 933 orders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discount: +$321K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vs margin correlation: -0.86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region lags</a:t>
            </a:r>
            <a:endParaRPr lang="en-US" sz="2600" dirty="0"/>
          </a:p>
        </p:txBody>
      </p:sp>
      <p:pic>
        <p:nvPicPr>
          <p:cNvPr id="4" name="Image 0" descr="../charts/04_reg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143000"/>
            <a:ext cx="5394960" cy="21945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172200" y="1188720"/>
            <a:ext cx="2468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Margin: West 14.9%, Central 7.9%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Loss-making states: TX, OH, PA, IL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should do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3840480" cy="1463040"/>
          </a:xfrm>
          <a:prstGeom prst="rect">
            <a:avLst/>
          </a:prstGeom>
          <a:solidFill>
            <a:srgbClr val="F7F8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188720"/>
            <a:ext cx="73152" cy="1463040"/>
          </a:xfrm>
          <a:prstGeom prst="rect">
            <a:avLst/>
          </a:prstGeom>
          <a:solidFill>
            <a:srgbClr val="D1495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3258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discounts at 20-30%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78308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at 30%+ lost $135K. Breaking even would lift profit about 47%.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17720" y="1188720"/>
            <a:ext cx="3840480" cy="1463040"/>
          </a:xfrm>
          <a:prstGeom prst="rect">
            <a:avLst/>
          </a:prstGeom>
          <a:solidFill>
            <a:srgbClr val="F7F8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17720" y="1188720"/>
            <a:ext cx="73152" cy="146304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846320" y="13258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Tables and Bookcases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178308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supplier cost and pricing, or trim the range.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2834640"/>
            <a:ext cx="3840480" cy="1463040"/>
          </a:xfrm>
          <a:prstGeom prst="rect">
            <a:avLst/>
          </a:prstGeom>
          <a:solidFill>
            <a:srgbClr val="F7F8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2834640"/>
            <a:ext cx="73152" cy="146304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1520" y="29718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turnaround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342900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Texas, Ohio, Pennsylvania, Illinois.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617720" y="2834640"/>
            <a:ext cx="3840480" cy="1463040"/>
          </a:xfrm>
          <a:prstGeom prst="rect">
            <a:avLst/>
          </a:prstGeom>
          <a:solidFill>
            <a:srgbClr val="F7F8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17720" y="2834640"/>
            <a:ext cx="73152" cy="146304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846320" y="29718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high-margin lines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4846320" y="342900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Copiers, Accessories, Paper, Labels, Envelopes.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is real. Discount discipline is the biggest lever.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9260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Code, dashboard and full write-up are in the GitHub repo.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2026-10-18T06:57:57Z</dcterms:created>
  <dcterms:modified xsi:type="dcterms:W3CDTF">2026-10-18T06:57:57Z</dcterms:modified>
</cp:coreProperties>
</file>